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32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A017"/>
                </a:solidFill>
              </a:rPr>
              <a:t>AIR CÔTE D'IVOIRE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Analytics Engineer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7627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0C4DE"/>
                </a:solidFill>
              </a:rPr>
              <a:t>Technical deliverables &amp; executive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697480"/>
            <a:ext cx="52120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52928"/>
            <a:ext cx="10543032" cy="731520"/>
          </a:xfrm>
          <a:prstGeom prst="rect">
            <a:avLst/>
          </a:prstGeom>
          <a:solidFill>
            <a:srgbClr val="2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07792"/>
            <a:ext cx="102687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2E8F0"/>
                </a:solidFill>
              </a:rPr>
              <a:t>Question: Where should Air Côte d'Ivoire invest first to maximise profitable growth — route expansion, customer retention, or upsell / cross-sell?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2670048" cy="1463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1304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017"/>
                </a:solidFill>
              </a:rPr>
              <a:t>Part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1605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Business
&amp;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3794760"/>
            <a:ext cx="2670048" cy="14630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381304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017"/>
                </a:solidFill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1605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Modelling
&amp; semantic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3794760"/>
            <a:ext cx="2670048" cy="14630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381304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017"/>
                </a:solidFill>
              </a:rPr>
              <a:t>Part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41605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Dashboard
&amp; recommendations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06256" y="3794760"/>
            <a:ext cx="2670048" cy="14630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6256" y="381304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017"/>
                </a:solidFill>
              </a:rPr>
              <a:t>Part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41605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MCP server
Agentic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68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</a:rPr>
              <a:t>Verdict:  40% ops stabilisation   →   35% customer retention   →   25% premium upsell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8"/>
                </a:solidFill>
              </a:rPr>
              <a:t>Air Côte d'Ivoire — Analytics Engineer 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6539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AB4C8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Part 1 — Business Understanding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7512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</a:rPr>
              <a:t>The brief asked: identify the key business domains and decision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8"/>
                </a:solidFill>
              </a:rPr>
              <a:t>Air Côte d'Ivoire — Analytics Engineer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6539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AB4C8"/>
                </a:solidFill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5 business domains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09928"/>
            <a:ext cx="5454396" cy="7498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09928"/>
            <a:ext cx="128016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764792"/>
            <a:ext cx="51983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Network &amp; Revenue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039112"/>
            <a:ext cx="51983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Which routes to open, strengthen, or close?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5454396" cy="7498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128016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569464"/>
            <a:ext cx="51983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843784"/>
            <a:ext cx="51983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Which routes lose margin to operational issues?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19272"/>
            <a:ext cx="5454396" cy="7498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319272"/>
            <a:ext cx="128016" cy="7498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374136"/>
            <a:ext cx="51983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Customer &amp; Loyalty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648456"/>
            <a:ext cx="51983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How to retain, upgrade, and reactivate customers?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23944"/>
            <a:ext cx="5454396" cy="7498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23944"/>
            <a:ext cx="128016" cy="7498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4178808"/>
            <a:ext cx="51983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Ancillary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453128"/>
            <a:ext cx="51983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What to offer, to whom, at the right time?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28616"/>
            <a:ext cx="5454396" cy="7498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928616"/>
            <a:ext cx="128016" cy="7498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4983480"/>
            <a:ext cx="51983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Commercial &amp; Pricing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5257800"/>
            <a:ext cx="51983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How to optimise the fare mix?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824728"/>
            <a:ext cx="1719072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824728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Theme 1 — Routes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9424" y="5824728"/>
            <a:ext cx="1719072" cy="274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9424" y="5824728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Theme 2 — Retention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5824728"/>
            <a:ext cx="1719072" cy="2743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41648" y="5824728"/>
            <a:ext cx="1719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Theme 3 — Upsell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7356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10 KPIs to guide decisions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1709928"/>
            <a:ext cx="545439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77356" y="1709928"/>
            <a:ext cx="118872" cy="42062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8524" y="1810512"/>
            <a:ext cx="52166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Route Revenue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7356" y="2148840"/>
            <a:ext cx="5454396" cy="42062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7356" y="2148840"/>
            <a:ext cx="118872" cy="42062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8524" y="2249424"/>
            <a:ext cx="52166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Route Margin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77356" y="2587752"/>
            <a:ext cx="545439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77356" y="2587752"/>
            <a:ext cx="118872" cy="42062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8524" y="2688336"/>
            <a:ext cx="52166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Load Factor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7356" y="3026664"/>
            <a:ext cx="5454396" cy="42062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77356" y="3026664"/>
            <a:ext cx="118872" cy="42062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8524" y="3127248"/>
            <a:ext cx="52166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Delay Rate (OTP)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77356" y="3465576"/>
            <a:ext cx="545439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77356" y="3465576"/>
            <a:ext cx="118872" cy="42062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8524" y="3566160"/>
            <a:ext cx="52166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Cancellation Rate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77356" y="3904488"/>
            <a:ext cx="5454396" cy="42062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77356" y="3904488"/>
            <a:ext cx="118872" cy="42062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78524" y="4005072"/>
            <a:ext cx="52166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Repeat Booking Rate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77356" y="4343400"/>
            <a:ext cx="545439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77356" y="4343400"/>
            <a:ext cx="118872" cy="42062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78524" y="4443984"/>
            <a:ext cx="52166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Recency (RFM)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77356" y="4782312"/>
            <a:ext cx="5454396" cy="42062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77356" y="4782312"/>
            <a:ext cx="118872" cy="42062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78524" y="4882896"/>
            <a:ext cx="52166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Loyalty Engagement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77356" y="5221224"/>
            <a:ext cx="545439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77356" y="5221224"/>
            <a:ext cx="118872" cy="420624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8524" y="5321808"/>
            <a:ext cx="52166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Ancillary Attach Rate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77356" y="5660136"/>
            <a:ext cx="5454396" cy="42062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77356" y="5660136"/>
            <a:ext cx="118872" cy="420624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78524" y="5760720"/>
            <a:ext cx="52166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Customer Sentiment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77356" y="6153912"/>
            <a:ext cx="54543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Each KPI is defined once in the semantic layer (Part 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Part 1 — Synthetic Data &amp;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7512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</a:rPr>
              <a:t>The brief asked: enrich the starter dataset with realistic data and at least one unstructured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8"/>
                </a:solidFill>
              </a:rPr>
              <a:t>Air Côte d'Ivoire — Analytics Engineer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6539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AB4C8"/>
                </a:solidFill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8 datasets created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28216"/>
            <a:ext cx="545439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764792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Aircraft Fleet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984248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50 aircraft — 4 Airbus 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58568"/>
            <a:ext cx="5454396" cy="49377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295144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2514600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16 routes — 3 geographic zones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545439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2825496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Flights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044952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~30,000 flights over 24 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19272"/>
            <a:ext cx="5454396" cy="49377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3355848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Bookings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3575304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~150,000 enriched bookings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49624"/>
            <a:ext cx="545439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3886200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IROPS Disruptions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4105656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Incidents by type and severity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79976"/>
            <a:ext cx="5454396" cy="49377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4416552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Ancillary Offers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4636008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Acceptance rate 17.5%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10328"/>
            <a:ext cx="545439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" y="4946904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Loyalty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5166360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Earn / redeem — 2 seasonal cycles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40680"/>
            <a:ext cx="5454396" cy="493776"/>
          </a:xfrm>
          <a:prstGeom prst="rect">
            <a:avLst/>
          </a:prstGeom>
          <a:solidFill>
            <a:srgbClr val="1B2A4A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5477256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</a:rPr>
              <a:t>Customer 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5696712"/>
            <a:ext cx="52898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5E0"/>
                </a:solidFill>
              </a:rPr>
              <a:t>3,000 raw texts FR/EN — unstructured 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7356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Why these datasets?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7356" y="1728216"/>
            <a:ext cx="5454396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7356" y="1728216"/>
            <a:ext cx="256032" cy="6949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4828" y="1764792"/>
            <a:ext cx="50703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24-month window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4828" y="2020824"/>
            <a:ext cx="50703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Required for 2 seasonality cycles and churn measurement.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7356" y="2478024"/>
            <a:ext cx="5454396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77356" y="2478024"/>
            <a:ext cx="256032" cy="6949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4828" y="2514600"/>
            <a:ext cx="50703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Raw text feedback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4828" y="2770632"/>
            <a:ext cx="50703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Sentiment computed downstream — genuinely unstructured exercise.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77356" y="3227832"/>
            <a:ext cx="5454396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77356" y="3227832"/>
            <a:ext cx="256032" cy="6949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4828" y="3264408"/>
            <a:ext cx="50703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Cost per aircraft 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4828" y="3520440"/>
            <a:ext cx="50703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Without cost data, route margin cannot be calculated.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77356" y="3977640"/>
            <a:ext cx="5454396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77356" y="3977640"/>
            <a:ext cx="256032" cy="6949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4828" y="4014216"/>
            <a:ext cx="50703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Disruptions with rainy season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4828" y="4270248"/>
            <a:ext cx="50703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Wet season at ABJ (Jun–Aug) — real Air Côte d'Ivoire context.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77356" y="4727448"/>
            <a:ext cx="5454396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77356" y="4727448"/>
            <a:ext cx="256032" cy="6949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4828" y="4764024"/>
            <a:ext cx="50703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Strategic routes — deliberate choice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4828" y="5020056"/>
            <a:ext cx="50703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R009/R013/R014/R016 — business intent, not an auto-rule.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77356" y="5477256"/>
            <a:ext cx="5454396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77356" y="5477256"/>
            <a:ext cx="256032" cy="69494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4828" y="5513832"/>
            <a:ext cx="50703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100% reproducible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4828" y="5769864"/>
            <a:ext cx="50703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Seed = 42 · 24/24 validations pass · same data every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Part 2 —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7512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</a:rPr>
              <a:t>The brief asked: a model covering the 3 themes, with a justified paradigm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8"/>
                </a:solidFill>
              </a:rPr>
              <a:t>Air Côte d'Ivoire — Analytics Engineer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6539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AB4C8"/>
                </a:solidFill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Which paradigm to choose?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28216"/>
            <a:ext cx="5454396" cy="1207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801368"/>
            <a:ext cx="4814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Star schema (Kimball)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4668" y="1810512"/>
            <a:ext cx="512064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4668" y="1810512"/>
            <a:ext cx="512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66534"/>
                </a:solidFill>
              </a:rPr>
              <a:t>Chosen 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130552"/>
            <a:ext cx="528980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Flat tables, directly readable by a dashboard or AI assistant. Perfect for a single data source.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26664"/>
            <a:ext cx="5454396" cy="120700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099816"/>
            <a:ext cx="4814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 Vault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4668" y="3108960"/>
            <a:ext cx="512064" cy="256032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4668" y="3108960"/>
            <a:ext cx="512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Ruled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429000"/>
            <a:ext cx="528980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Designed for multi-source merges and heavy historisation. Oversized for this project.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25112"/>
            <a:ext cx="5454396" cy="12070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4398264"/>
            <a:ext cx="48143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4668" y="4407408"/>
            <a:ext cx="512064" cy="256032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4668" y="4407408"/>
            <a:ext cx="512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Ruled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4727448"/>
            <a:ext cx="528980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No clear advantage here. Targeted SCD2 on loyalty is sufficient for needed historisation.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78424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160 / 160 dbt tests pass in ~12 seconds.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7356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5 fact tables — 3 brief themes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7356" y="1728216"/>
            <a:ext cx="5454396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5372" y="1764792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Theme 1 — Routes &amp; Growth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0236" y="2057400"/>
            <a:ext cx="5234940" cy="438912"/>
          </a:xfrm>
          <a:prstGeom prst="rect">
            <a:avLst/>
          </a:prstGeom>
          <a:solidFill>
            <a:srgbClr val="072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1676" y="20939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fct_flights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1676" y="229514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8D5"/>
                </a:solidFill>
              </a:rPr>
              <a:t>1 row = 1 flight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7356" y="2642616"/>
            <a:ext cx="5454396" cy="184708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5372" y="2679192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Theme 2 — Customer Retention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60236" y="2971800"/>
            <a:ext cx="5234940" cy="438912"/>
          </a:xfrm>
          <a:prstGeom prst="rect">
            <a:avLst/>
          </a:prstGeom>
          <a:solidFill>
            <a:srgbClr val="92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1676" y="30083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fct_bookings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1676" y="320954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8D5"/>
                </a:solidFill>
              </a:rPr>
              <a:t>1 row = 1 booking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60236" y="3465576"/>
            <a:ext cx="5234940" cy="438912"/>
          </a:xfrm>
          <a:prstGeom prst="rect">
            <a:avLst/>
          </a:prstGeom>
          <a:solidFill>
            <a:srgbClr val="92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1676" y="35021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fct_customer_feedback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1676" y="37033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8D5"/>
                </a:solidFill>
              </a:rPr>
              <a:t>1 row = 1 customer review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0236" y="3959352"/>
            <a:ext cx="5234940" cy="438912"/>
          </a:xfrm>
          <a:prstGeom prst="rect">
            <a:avLst/>
          </a:prstGeom>
          <a:solidFill>
            <a:srgbClr val="92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1676" y="39959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fct_loyalty_events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1676" y="419709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8D5"/>
                </a:solidFill>
              </a:rPr>
              <a:t>1 row = 1 loyalty transaction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77356" y="4581144"/>
            <a:ext cx="5454396" cy="822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5372" y="4617720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Theme 3 — Upsell / Cross-sell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60236" y="4910328"/>
            <a:ext cx="5234940" cy="438912"/>
          </a:xfrm>
          <a:prstGeom prst="rect">
            <a:avLst/>
          </a:prstGeom>
          <a:solidFill>
            <a:srgbClr val="044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51676" y="494690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fct_ancillary_offers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51676" y="51480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8D5"/>
                </a:solidFill>
              </a:rPr>
              <a:t>1 row = 1 offer presented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532120"/>
            <a:ext cx="11274552" cy="25603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77356" y="5586984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6 shared dimensions across facts: date · route · customer · aircraft · airport · fare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Part 2 — Semantic Layer &amp; Ontology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7512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</a:rPr>
              <a:t>The brief asked: define reusable entities, KPIs, and business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8"/>
                </a:solidFill>
              </a:rPr>
              <a:t>Air Côte d'Ivoire — Analytics Engineer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6539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AB4C8"/>
                </a:solidFill>
              </a:rP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Semantic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54543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74151"/>
                </a:solidFill>
              </a:rPr>
              <a:t>Single source of truth — each KPI defined once, reused everywhere.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39112"/>
            <a:ext cx="5454396" cy="6400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39112"/>
            <a:ext cx="128016" cy="6400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10312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2103120"/>
            <a:ext cx="40096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Who travels, loyalty tier, churn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34056"/>
            <a:ext cx="5454396" cy="6400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34056"/>
            <a:ext cx="128016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7980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Flight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2798064"/>
            <a:ext cx="40096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Operation, OTP, delay, cancellation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5454396" cy="6400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128016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4930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3493008"/>
            <a:ext cx="40096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Revenue, fare, ancillaries, class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23944"/>
            <a:ext cx="5454396" cy="6400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23944"/>
            <a:ext cx="128016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18795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7088" y="4187952"/>
            <a:ext cx="40096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Network, margin, load factor, strategic?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18888"/>
            <a:ext cx="5454396" cy="6400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18888"/>
            <a:ext cx="128016" cy="6400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88289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4882896"/>
            <a:ext cx="40096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Satisfaction, complaints, sentiment FR/EN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86984"/>
            <a:ext cx="11274552" cy="25603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641848"/>
            <a:ext cx="54543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10 KPIs declared (route_revenue, load_factor, repeat_booking_rate…)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16168"/>
            <a:ext cx="54543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Entity joins declared declaratively — not hard-coded.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7356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Ontology — reasoning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7356" y="1691640"/>
            <a:ext cx="54543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74151"/>
                </a:solidFill>
              </a:rPr>
              <a:t>The brief asked for business rules that automatically classify concepts.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7356" y="2039112"/>
            <a:ext cx="5454396" cy="7498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7084" y="2084832"/>
            <a:ext cx="46314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High-value at-risk customer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00232" y="2103120"/>
            <a:ext cx="676656" cy="21945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00232" y="2103120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2A4A"/>
                </a:solidFill>
              </a:rPr>
              <a:t>brief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7084" y="2368296"/>
            <a:ext cx="53080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E8D5"/>
                </a:solidFill>
              </a:rPr>
              <a:t>High spend + no recent booking + sign of dissatisfaction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7356" y="2843784"/>
            <a:ext cx="5454396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7084" y="2889504"/>
            <a:ext cx="46314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Strategic underperforming route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000232" y="2907792"/>
            <a:ext cx="676656" cy="21945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00232" y="290779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2A4A"/>
                </a:solidFill>
              </a:rPr>
              <a:t>brief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7084" y="3172968"/>
            <a:ext cx="53080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E8D5"/>
                </a:solidFill>
              </a:rPr>
              <a:t>Flagged as strategic + insufficient margin among peers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77356" y="3648456"/>
            <a:ext cx="5454396" cy="7498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87084" y="3694176"/>
            <a:ext cx="46314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Premium upgrade candidate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7084" y="3977640"/>
            <a:ext cx="53080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E8D5"/>
                </a:solidFill>
              </a:rPr>
              <a:t>Traveller likely to accept an upgrade (segment + history)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77356" y="4453128"/>
            <a:ext cx="5454396" cy="74980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7084" y="4498848"/>
            <a:ext cx="46314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Loyal detractor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7084" y="4782312"/>
            <a:ext cx="53080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E8D5"/>
                </a:solidFill>
              </a:rPr>
              <a:t>Gold-tier customer expressing recurring dissatisfaction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77356" y="5257800"/>
            <a:ext cx="5454396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7084" y="5303520"/>
            <a:ext cx="46314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IROPS-heavy route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7084" y="5586984"/>
            <a:ext cx="53080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E8D5"/>
                </a:solidFill>
              </a:rPr>
              <a:t>Route with cancellation or disruption rate significantly above network average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Part 2 — Unstructured Text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7512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</a:rPr>
              <a:t>The brief asked: show how unstructured data enriches business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8"/>
                </a:solidFill>
              </a:rPr>
              <a:t>Air Côte d'Ivoire — Analytics Engineer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6539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AB4C8"/>
                </a:solidFill>
              </a:rPr>
              <a:t>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From raw text to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28216"/>
            <a:ext cx="5454396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783080"/>
            <a:ext cx="528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📥  Raw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29968"/>
            <a:ext cx="52898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8D5"/>
                </a:solidFill>
              </a:rPr>
              <a:t>3,000 customer reviews in French and English — no labels.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7238" y="2459736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017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51176"/>
            <a:ext cx="5454396" cy="7315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2606040"/>
            <a:ext cx="528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🔤  Tokenisation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2852928"/>
            <a:ext cx="52898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8D5"/>
                </a:solidFill>
              </a:rPr>
              <a:t>Text split into words, cleaned.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7238" y="3282696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017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74136"/>
            <a:ext cx="5454396" cy="7315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3429000"/>
            <a:ext cx="528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💬  Sentiment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675888"/>
            <a:ext cx="52898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8D5"/>
                </a:solidFill>
              </a:rPr>
              <a:t>Score from −1 (very negative) to +1 (very positive).
145-word FR+EN lexicon, with negation handling.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7238" y="4105656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017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97096"/>
            <a:ext cx="5454396" cy="7315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4251960"/>
            <a:ext cx="528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🗂  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4498848"/>
            <a:ext cx="52898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8D5"/>
                </a:solidFill>
              </a:rPr>
              <a:t>Automatic classification: delay · baggage · crew · service…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7238" y="4928616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017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0056"/>
            <a:ext cx="5454396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5074920"/>
            <a:ext cx="528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Fact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5321808"/>
            <a:ext cx="52898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8D5"/>
                </a:solidFill>
              </a:rPr>
              <a:t>Each enriched review joins the model to feed the dashboard.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97880"/>
            <a:ext cx="54543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</a:rPr>
              <a:t>Every score is traceable to the source word.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7356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Examples &amp; impact on the decision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7356" y="1728216"/>
            <a:ext cx="5454396" cy="932688"/>
          </a:xfrm>
          <a:prstGeom prst="rect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3660" y="1801368"/>
            <a:ext cx="52715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74151"/>
                </a:solidFill>
              </a:rPr>
              <a:t>"Lost luggage from Paris to Abidjan,
no one to reach."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23660" y="2350008"/>
            <a:ext cx="5271516" cy="2377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3660" y="2350008"/>
            <a:ext cx="52715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Sentiment: −1.0   Category: Baggage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7356" y="2752344"/>
            <a:ext cx="5454396" cy="932688"/>
          </a:xfrm>
          <a:prstGeom prst="rect">
            <a:avLst/>
          </a:prstGeom>
          <a:solidFill>
            <a:srgbClr val="FFFFFF"/>
          </a:solidFill>
          <a:ln w="317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3660" y="2825496"/>
            <a:ext cx="52715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74151"/>
                </a:solidFill>
              </a:rPr>
              <a:t>"Free upgrade to business class,
fantastic experience."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23660" y="3374136"/>
            <a:ext cx="5271516" cy="237744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3374136"/>
            <a:ext cx="52715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Sentiment: +1.0   Category: Service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7356" y="3776472"/>
            <a:ext cx="5454396" cy="932688"/>
          </a:xfrm>
          <a:prstGeom prst="rect">
            <a:avLst/>
          </a:prstGeom>
          <a:solidFill>
            <a:srgbClr val="FFFFFF"/>
          </a:solidFill>
          <a:ln w="317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3660" y="3849624"/>
            <a:ext cx="527151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74151"/>
                </a:solidFill>
              </a:rPr>
              <a:t>"The flight was cancelled with no explanation
from the crew."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23660" y="4398264"/>
            <a:ext cx="5271516" cy="23774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4398264"/>
            <a:ext cx="52715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Sentiment: −0.8   Category: Crew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837176"/>
            <a:ext cx="11274552" cy="25603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77356" y="4910328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Finding: complaints by route (crew, baggage, delay) confirm the issue
is operational — not a demand problem.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7356" y="5312664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</a:rPr>
              <a:t>Structured signals (cancellation rate) and unstructured signals (feedback) converge
on the same 5 priority routes.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Part 3 — 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7512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</a:rPr>
              <a:t>The brief asked: a dashboard covering network, retention, upsell, and a decision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8"/>
                </a:solidFill>
              </a:rPr>
              <a:t>Air Côte d'Ivoire — Analytics Engineer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6539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AB4C8"/>
                </a:solidFill>
              </a:rPr>
              <a:t>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500116" cy="11704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399032"/>
            <a:ext cx="53172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 — Network &amp; Profitability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746504"/>
            <a:ext cx="531723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Revenue · margin · load factor · delays · cancellations
Which routes win? Which lose margin to operational issues?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1325880"/>
            <a:ext cx="5500116" cy="117043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7940" y="1399032"/>
            <a:ext cx="53172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2 — Customer &amp;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7940" y="1746504"/>
            <a:ext cx="531723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Segmentation · at-risk customers · complaints · satisfaction
Who is about to churn? Why? What is the cost of inaction?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79192"/>
            <a:ext cx="5500116" cy="117043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752344"/>
            <a:ext cx="53172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 — Upsell &amp; Cross-sell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3099816"/>
            <a:ext cx="531723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Upgrade conversion rate · ancillaries · revenue per passenger
Who to target with what? Which segment has the strongest ROI?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2679192"/>
            <a:ext cx="5500116" cy="11704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7940" y="2752344"/>
            <a:ext cx="53172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4 — Decision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7940" y="3099816"/>
            <a:ext cx="531723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Grow · Defend · Retain · Prioritise — driven by ontology rules
Translates data into action verbs for the executive committee.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42232"/>
            <a:ext cx="11274552" cy="25603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15384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Decision flow: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99432"/>
            <a:ext cx="2432304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72584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</a:rPr>
              <a:t>CEO question
'Where to invest?'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6936" y="481888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4599432"/>
            <a:ext cx="2432304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18688" y="4672584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 thematic
dashboards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6984" y="481888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97296" y="4599432"/>
            <a:ext cx="2432304" cy="6583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88736" y="4672584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Decision
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481888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67344" y="4599432"/>
            <a:ext cx="2432304" cy="6583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58784" y="4672584"/>
            <a:ext cx="23042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Verdict
40/35/25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49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</a:rPr>
              <a:t>Reproducible with a single docker compose up — everything provisioned by code, no drag-and-drop.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Part 3 — Executive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7512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</a:rPr>
              <a:t>The brief asked: a one-page recommendation explaining what the company should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8"/>
                </a:solidFill>
              </a:rPr>
              <a:t>Air Côte d'Ivoire — Analytics Engineer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6539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AB4C8"/>
                </a:solidFill>
              </a:rPr>
              <a:t>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4552" cy="58521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11018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</a:rPr>
              <a:t>Verdict:   40% ops stabilisation   →   35% customer retention   →   25% premium upsell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02536"/>
            <a:ext cx="11274552" cy="10789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057400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Action 1 — Stabilise operations on 5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295144"/>
            <a:ext cx="394609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</a:rPr>
              <a:t>R015 · R005 · R008 · R004 · R006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7020" y="2075688"/>
            <a:ext cx="65392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E8D5"/>
                </a:solidFill>
              </a:rPr>
              <a:t>These routes cancel 5–7% of flights (network: 3.6%). Customer complaints confirm the issue is operational (crew, baggage, delays) — not a demand problem.
Estimated impact: ~30 cancellations avoided/year ≈ $200,000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11274552" cy="107899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3227832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Action 2 — Targeted retention campaign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3465576"/>
            <a:ext cx="394609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</a:rPr>
              <a:t>20 customers flagged as 'high-value at-risk'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7020" y="3246120"/>
            <a:ext cx="65392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E8D5"/>
                </a:solidFill>
              </a:rPr>
              <a:t>These 20 customers represent $13.6M in cumulative spend. All carry at least one complaint and a disengagement signal. Retaining half represents $700,000 in recurring annual revenue.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43400"/>
            <a:ext cx="11274552" cy="107899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4398264"/>
            <a:ext cx="11091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Action 3 — Targeted upgrade offers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636008"/>
            <a:ext cx="394609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</a:rPr>
              <a:t>48 candidates identified by the ontology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7020" y="4416552"/>
            <a:ext cx="65392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E8D5"/>
                </a:solidFill>
              </a:rPr>
              <a:t>These travellers accept upgrades at a 17.5% rate (network: 11.2%). With personalised offers, the potential is $1.5–3M in additional ancillary revenue.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550408"/>
            <a:ext cx="11274552" cy="25603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90-day targets: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16168"/>
            <a:ext cx="269748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95274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Cancellations on 5 routes → &lt; 3.5%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5916168"/>
            <a:ext cx="269748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595274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At-risk customers → ≤ 10 (from 20)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5916168"/>
            <a:ext cx="269748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95274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Upgrade rate → ≥ 20% (from 17.5%)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5916168"/>
            <a:ext cx="269748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595274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Network OTP15 → ≥ 72% (from 66.7%)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Part 4 — AI Interface /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7512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</a:rPr>
              <a:t>The brief asked: expose the data to an AI assistant and demonstrate 3 concrete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 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8"/>
                </a:solidFill>
              </a:rPr>
              <a:t>Air Côte d'Ivoire — Analytics Engineer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6539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AB4C8"/>
                </a:solidFill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What is the MCP server?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54543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A lightweight server that exposes the modelled data to an AI assistant (Claude) via the MCP protocol — without the AI having direct database access.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73736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42316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Claude Desktop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569464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33472" y="2331720"/>
            <a:ext cx="1737360" cy="6583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242316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MCP Server
(FastMCP)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569464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9744" y="2331720"/>
            <a:ext cx="1737360" cy="6583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42316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DuckDB
(read-only)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54680"/>
            <a:ext cx="54543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Guarantees: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47288"/>
            <a:ext cx="201168" cy="2011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447288"/>
            <a:ext cx="51252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Read-only database — no modifications possible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76472"/>
            <a:ext cx="201168" cy="2011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776472"/>
            <a:ext cx="51252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Results capped at 1,000 rows — no data exfiltration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05656"/>
            <a:ext cx="201168" cy="2011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105656"/>
            <a:ext cx="51252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Each response includes the exact query executed (auditability)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201168" cy="2011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434840"/>
            <a:ext cx="51252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Strict input parameter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7356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3 brief questions — answered 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7356" y="1691640"/>
            <a:ext cx="5454396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5372" y="1746504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 — Route budget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5372" y="2002536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017"/>
                </a:solidFill>
              </a:rPr>
              <a:t>'Which routes deserve more budget this quarter?'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5372" y="2295144"/>
            <a:ext cx="52898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E8D5"/>
                </a:solidFill>
              </a:rPr>
              <a:t>The tool returns each route with margin, load factor, OTP and cancellation rate — ranked by opportunity.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77356" y="3172968"/>
            <a:ext cx="5454396" cy="13716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5372" y="3227832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 — At-risk customers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5372" y="3483864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017"/>
                </a:solidFill>
              </a:rPr>
              <a:t>'Which high-value customers are at churn risk?'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5372" y="3776472"/>
            <a:ext cx="52898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E8D5"/>
                </a:solidFill>
              </a:rPr>
              <a:t>The ontology already identified 20 customers. The tool returns them with their risk score and complaint history.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4654296"/>
            <a:ext cx="5454396" cy="13716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5372" y="4709160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 — Complaints by route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5372" y="4965192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4A017"/>
                </a:solidFill>
              </a:rPr>
              <a:t>'What complaints explain dissatisfaction on route X?'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5372" y="5257800"/>
            <a:ext cx="52898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EE8D5"/>
                </a:solidFill>
              </a:rPr>
              <a:t>The tool searches 3,000 raw FR/EN texts and returns real verbatims — this is the unstructured data source.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Deliverables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67512"/>
            <a:ext cx="9601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</a:rPr>
              <a:t>Everything the brief asked for — delivered, documented, reproducible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36576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8"/>
                </a:solidFill>
              </a:rPr>
              <a:t>Air Côte d'Ivoire — Analytics Engineer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6539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AB4C8"/>
                </a:solidFill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What the brief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09928"/>
            <a:ext cx="545439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09928"/>
            <a:ext cx="310896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84708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746504"/>
            <a:ext cx="50154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Complete source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1965960"/>
            <a:ext cx="50154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Data pipeline · dbt models · Superset dashboard · MCP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76856"/>
            <a:ext cx="545439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276856"/>
            <a:ext cx="310896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41401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2313432"/>
            <a:ext cx="50154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README and 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2532888"/>
            <a:ext cx="50154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One Docker command to launch everything — zero manual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43784"/>
            <a:ext cx="545439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843784"/>
            <a:ext cx="310896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298094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2880360"/>
            <a:ext cx="50154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Data dictionary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099816"/>
            <a:ext cx="50154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Column-by-column description of all tables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10712"/>
            <a:ext cx="545439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410712"/>
            <a:ext cx="310896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" y="354787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447288"/>
            <a:ext cx="50154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Modelling diagram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666744"/>
            <a:ext cx="50154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Visual schema of the fact constellation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77640"/>
            <a:ext cx="545439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977640"/>
            <a:ext cx="310896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" y="411480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014216"/>
            <a:ext cx="50154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Dashboard screenshots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33672"/>
            <a:ext cx="50154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4 screenshots — one per zone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44568"/>
            <a:ext cx="545439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544568"/>
            <a:ext cx="310896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468172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4581144"/>
            <a:ext cx="50154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AI demo video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4800600"/>
            <a:ext cx="50154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Script and architecture in the documentation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11496"/>
            <a:ext cx="545439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111496"/>
            <a:ext cx="310896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" y="524865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5148072"/>
            <a:ext cx="50154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Assumptions documentation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" y="5367528"/>
            <a:ext cx="50154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8 detailed assumptions with impact on recommendations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678424"/>
            <a:ext cx="545439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678424"/>
            <a:ext cx="310896" cy="5303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581558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" y="5715000"/>
            <a:ext cx="50154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Executive recommendations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5934456"/>
            <a:ext cx="50154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1-page document + PDF version — ready for the 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7356" y="1325880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</a:rPr>
              <a:t>Senior-level criteria from the brief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77356" y="1709928"/>
            <a:ext cx="5454396" cy="8046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5372" y="1773936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Deliberate modelling choices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5372" y="2057400"/>
            <a:ext cx="52898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Every decision (Star vs Data Vault, targeted SCD2) is justified.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77356" y="2587752"/>
            <a:ext cx="5454396" cy="8046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5372" y="2651760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Reusable semantic layer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5372" y="2935224"/>
            <a:ext cx="52898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10 KPIs and 5 entities defined once, used everywhere.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77356" y="3465576"/>
            <a:ext cx="5454396" cy="8046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5372" y="3529584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Ontological reasoning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5372" y="3813048"/>
            <a:ext cx="52898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5 business concepts automatically computed by declarative rules.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77356" y="4343400"/>
            <a:ext cx="5454396" cy="80467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5372" y="4407408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Robust AI tooling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5372" y="4690872"/>
            <a:ext cx="52898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3 specialised, secured tools, with audit trail for every query.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77356" y="5221224"/>
            <a:ext cx="5454396" cy="8046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5372" y="5285232"/>
            <a:ext cx="52898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Solid documentation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5372" y="5568696"/>
            <a:ext cx="52898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8D5"/>
                </a:solidFill>
              </a:rPr>
              <a:t>8 documents, complete README, screenshots and data dictionary.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6153912"/>
            <a:ext cx="11274552" cy="25603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77356" y="6208776"/>
            <a:ext cx="54543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1B2A4A"/>
                </a:solidFill>
              </a:rPr>
              <a:t>Everything is reproducible · everything is documented.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